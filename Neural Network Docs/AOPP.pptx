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5" r:id="rId3"/>
    <p:sldId id="267" r:id="rId4"/>
    <p:sldId id="274" r:id="rId5"/>
    <p:sldId id="271" r:id="rId6"/>
    <p:sldId id="266" r:id="rId7"/>
    <p:sldId id="277" r:id="rId8"/>
    <p:sldId id="269" r:id="rId9"/>
    <p:sldId id="276" r:id="rId10"/>
    <p:sldId id="278" r:id="rId11"/>
    <p:sldId id="270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SYCL Buffers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Time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4.1000000000000002E-2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9D-44A7-AD1A-DD87EBD665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SYCL USM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Time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4.5999999999999999E-2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9D-44A7-AD1A-DD87EBD665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OMP 1-Thread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Time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0.69399999999999995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9D-44A7-AD1A-DD87EBD665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OMP 12-Thread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Time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0.14199999999999999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B2-4522-BEF5-166CEF4234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8190072"/>
        <c:axId val="738188112"/>
      </c:barChart>
      <c:catAx>
        <c:axId val="738190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88112"/>
        <c:crosses val="autoZero"/>
        <c:auto val="1"/>
        <c:lblAlgn val="ctr"/>
        <c:lblOffset val="100"/>
        <c:noMultiLvlLbl val="0"/>
      </c:catAx>
      <c:valAx>
        <c:axId val="73818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90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 Thread</c:v>
                </c:pt>
                <c:pt idx="1">
                  <c:v>2 Threads</c:v>
                </c:pt>
                <c:pt idx="2">
                  <c:v>4 Threads</c:v>
                </c:pt>
                <c:pt idx="3">
                  <c:v>6 Threads</c:v>
                </c:pt>
                <c:pt idx="4">
                  <c:v>8 Threads</c:v>
                </c:pt>
                <c:pt idx="5">
                  <c:v>10 Threads</c:v>
                </c:pt>
                <c:pt idx="6">
                  <c:v>12 Threads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6.76</c:v>
                </c:pt>
                <c:pt idx="1">
                  <c:v>3.782</c:v>
                </c:pt>
                <c:pt idx="2">
                  <c:v>2.411</c:v>
                </c:pt>
                <c:pt idx="3">
                  <c:v>2.3050000000000002</c:v>
                </c:pt>
                <c:pt idx="4">
                  <c:v>2.2709999999999999</c:v>
                </c:pt>
                <c:pt idx="5">
                  <c:v>2.2229999999999999</c:v>
                </c:pt>
                <c:pt idx="6">
                  <c:v>2.4500000000000002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9D-44A7-AD1A-DD87EBD665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8190072"/>
        <c:axId val="738188112"/>
      </c:lineChart>
      <c:catAx>
        <c:axId val="738190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88112"/>
        <c:crosses val="autoZero"/>
        <c:auto val="1"/>
        <c:lblAlgn val="ctr"/>
        <c:lblOffset val="100"/>
        <c:noMultiLvlLbl val="0"/>
      </c:catAx>
      <c:valAx>
        <c:axId val="73818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90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OMP 1-Thread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Time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6.76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B4-40D1-B374-67759C99F476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OMP 12-Thread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Time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2.4500000000000002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B4-40D1-B374-67759C99F476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PyTorch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Time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B4-40D1-B374-67759C99F4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76186383"/>
        <c:axId val="1076180143"/>
      </c:barChart>
      <c:catAx>
        <c:axId val="1076186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180143"/>
        <c:crosses val="autoZero"/>
        <c:auto val="1"/>
        <c:lblAlgn val="ctr"/>
        <c:lblOffset val="100"/>
        <c:noMultiLvlLbl val="0"/>
      </c:catAx>
      <c:valAx>
        <c:axId val="1076180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186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4/27/2026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4/27/2026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Applications and Optimizations of Parallel Programming</a:t>
            </a:r>
            <a:endParaRPr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Computer Science Adv. Topics Senior Capstone</a:t>
            </a:r>
          </a:p>
          <a:p>
            <a:r>
              <a:rPr lang="en-US" dirty="0"/>
              <a:t>Thomas Eubank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  <a:p>
            <a:r>
              <a:rPr lang="en-US" dirty="0"/>
              <a:t>SYCL</a:t>
            </a:r>
          </a:p>
          <a:p>
            <a:r>
              <a:rPr lang="en-US" dirty="0"/>
              <a:t>Matrix Multiplication Optimizations</a:t>
            </a:r>
          </a:p>
          <a:p>
            <a:r>
              <a:rPr lang="en-US" dirty="0"/>
              <a:t>Neural Network Design</a:t>
            </a:r>
          </a:p>
          <a:p>
            <a:r>
              <a:rPr lang="en-US" dirty="0"/>
              <a:t>Performance Analysis</a:t>
            </a:r>
          </a:p>
          <a:p>
            <a:r>
              <a:rPr lang="en-US" dirty="0"/>
              <a:t>Limitations, Future Work</a:t>
            </a:r>
          </a:p>
          <a:p>
            <a:r>
              <a:rPr lang="en-US" dirty="0"/>
              <a:t>Conclusion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Programming Relevance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end of Moore’s Law</a:t>
            </a:r>
          </a:p>
          <a:p>
            <a:r>
              <a:rPr lang="en-US" dirty="0"/>
              <a:t>Increased compute needs (AI, Growing Internet, Embarrassingly Parallel)</a:t>
            </a:r>
          </a:p>
          <a:p>
            <a:r>
              <a:rPr lang="en-US" dirty="0"/>
              <a:t>Growing computer cost</a:t>
            </a:r>
          </a:p>
          <a:p>
            <a:r>
              <a:rPr lang="en-US" dirty="0"/>
              <a:t>Difficult due to proprietary models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D031BD8-5A3D-62D1-ED3B-A9F79FE0F5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24508" y="2117468"/>
            <a:ext cx="2743583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SYCL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400800" cy="5334000"/>
          </a:xfrm>
        </p:spPr>
        <p:txBody>
          <a:bodyPr/>
          <a:lstStyle/>
          <a:p>
            <a:r>
              <a:rPr lang="en-US" dirty="0"/>
              <a:t>SYCL created to compete with other frameworks</a:t>
            </a:r>
          </a:p>
          <a:p>
            <a:r>
              <a:rPr lang="en-US" dirty="0"/>
              <a:t>Community support for many devices – Still lacking in areas</a:t>
            </a:r>
          </a:p>
          <a:p>
            <a:r>
              <a:rPr lang="en-US" dirty="0"/>
              <a:t>Custom Device Selectors to choose the right tool for the job (CPU or GPU)</a:t>
            </a:r>
          </a:p>
          <a:p>
            <a:r>
              <a:rPr lang="en-US" dirty="0"/>
              <a:t>Two main memory models</a:t>
            </a:r>
          </a:p>
          <a:p>
            <a:pPr lvl="1"/>
            <a:r>
              <a:rPr lang="en-US" dirty="0"/>
              <a:t>Buffers: Allocate only specific sections to be used when the Compiler thinks is best</a:t>
            </a:r>
          </a:p>
          <a:p>
            <a:pPr lvl="1"/>
            <a:r>
              <a:rPr lang="en-US" dirty="0"/>
              <a:t>USM: Shared between CPU and GPU, User managed</a:t>
            </a:r>
          </a:p>
          <a:p>
            <a:r>
              <a:rPr lang="en-US" dirty="0"/>
              <a:t>Queue used to submit jobs and data to working device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 Open Standard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2560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1"/>
            <a:ext cx="4343400" cy="1981200"/>
          </a:xfrm>
        </p:spPr>
        <p:txBody>
          <a:bodyPr/>
          <a:lstStyle/>
          <a:p>
            <a:r>
              <a:rPr lang="en-US" dirty="0"/>
              <a:t>Time Complexity: O(n*k*m)</a:t>
            </a:r>
          </a:p>
          <a:p>
            <a:r>
              <a:rPr lang="en-US" dirty="0"/>
              <a:t>Can be broken down several ways</a:t>
            </a:r>
          </a:p>
          <a:p>
            <a:r>
              <a:rPr lang="en-US" dirty="0"/>
              <a:t>Sum of the row of matrix a times the column of matrix b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Optimizations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Keep parallel programs simple</a:t>
            </a:r>
          </a:p>
          <a:p>
            <a:r>
              <a:rPr lang="en-US" dirty="0"/>
              <a:t>Keep them manageable </a:t>
            </a:r>
          </a:p>
          <a:p>
            <a:r>
              <a:rPr lang="en-US" dirty="0"/>
              <a:t>Lowering time complexity is the goal</a:t>
            </a:r>
          </a:p>
          <a:p>
            <a:r>
              <a:rPr lang="en-US" dirty="0"/>
              <a:t>O(n*k*m) with n workers could reduce the time complexity to O(k*m)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87CAC5-B13A-405A-62A7-768967C446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952" y="4626513"/>
            <a:ext cx="4349496" cy="146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Timings</a:t>
            </a:r>
            <a:endParaRPr dirty="0"/>
          </a:p>
        </p:txBody>
      </p:sp>
      <p:graphicFrame>
        <p:nvGraphicFramePr>
          <p:cNvPr id="13" name="Content Placeholder 12" descr="Clustered column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5995385"/>
              </p:ext>
            </p:extLst>
          </p:nvPr>
        </p:nvGraphicFramePr>
        <p:xfrm>
          <a:off x="1524000" y="1828800"/>
          <a:ext cx="9144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1619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227171-F005-613F-F60A-6D4AF69E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API 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AC53BF-97A6-FAF1-8843-49EEE8CD80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Dense Layer Class controls Activation, Optimizer</a:t>
            </a:r>
          </a:p>
          <a:p>
            <a:r>
              <a:rPr lang="en-US" dirty="0"/>
              <a:t>Neural Network Class conducts training loop, job allocation… patience feature</a:t>
            </a:r>
          </a:p>
          <a:p>
            <a:r>
              <a:rPr lang="en-US" dirty="0"/>
              <a:t>Activation functions implemented include </a:t>
            </a:r>
            <a:r>
              <a:rPr lang="en-US" dirty="0" err="1"/>
              <a:t>ReLU</a:t>
            </a:r>
            <a:r>
              <a:rPr lang="en-US" dirty="0"/>
              <a:t>, Sigmoid, </a:t>
            </a:r>
            <a:r>
              <a:rPr lang="en-US" dirty="0" err="1"/>
              <a:t>TanH</a:t>
            </a:r>
            <a:r>
              <a:rPr lang="en-US" dirty="0"/>
              <a:t>, and </a:t>
            </a:r>
            <a:r>
              <a:rPr lang="en-US" dirty="0" err="1"/>
              <a:t>Softmax</a:t>
            </a:r>
            <a:endParaRPr lang="en-US" dirty="0"/>
          </a:p>
          <a:p>
            <a:r>
              <a:rPr lang="en-US" dirty="0"/>
              <a:t>Adam Optimizer included to reduce prediction collapse to 1 class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B864FF-DEE9-FB53-0947-0F7BADF056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Matrix Class</a:t>
            </a:r>
          </a:p>
          <a:p>
            <a:pPr lvl="1"/>
            <a:r>
              <a:rPr lang="en-US" dirty="0"/>
              <a:t>Uses raw double* to allocate contiguous memory for the matrix</a:t>
            </a:r>
          </a:p>
          <a:p>
            <a:pPr lvl="1"/>
            <a:r>
              <a:rPr lang="en-US" dirty="0"/>
              <a:t>Size is stored with the matrix object</a:t>
            </a:r>
          </a:p>
          <a:p>
            <a:pPr lvl="1"/>
            <a:r>
              <a:rPr lang="en-US" dirty="0"/>
              <a:t>Minimized the value copies in functions</a:t>
            </a:r>
          </a:p>
          <a:p>
            <a:pPr lvl="1"/>
            <a:r>
              <a:rPr lang="en-US" dirty="0"/>
              <a:t>Contains helper functions for size, element access, and common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294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FB867-4098-DAB0-CD5F-EAF371D64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* Weights = Output</a:t>
            </a:r>
          </a:p>
          <a:p>
            <a:r>
              <a:rPr lang="en-US" dirty="0"/>
              <a:t>Modify weights to change output</a:t>
            </a:r>
          </a:p>
          <a:p>
            <a:r>
              <a:rPr lang="en-US" dirty="0"/>
              <a:t>The closer output is to the expected, the better your network</a:t>
            </a:r>
          </a:p>
          <a:p>
            <a:r>
              <a:rPr lang="en-US" dirty="0"/>
              <a:t>Job Allocation Scheme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F8095C-DED2-8F9B-B896-2A1EB8D9D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269229"/>
              </p:ext>
            </p:extLst>
          </p:nvPr>
        </p:nvGraphicFramePr>
        <p:xfrm>
          <a:off x="788168" y="3950867"/>
          <a:ext cx="10667551" cy="2717356"/>
        </p:xfrm>
        <a:graphic>
          <a:graphicData uri="http://schemas.openxmlformats.org/drawingml/2006/table">
            <a:tbl>
              <a:tblPr/>
              <a:tblGrid>
                <a:gridCol w="274954">
                  <a:extLst>
                    <a:ext uri="{9D8B030D-6E8A-4147-A177-3AD203B41FA5}">
                      <a16:colId xmlns:a16="http://schemas.microsoft.com/office/drawing/2014/main" val="250346356"/>
                    </a:ext>
                  </a:extLst>
                </a:gridCol>
                <a:gridCol w="234551">
                  <a:extLst>
                    <a:ext uri="{9D8B030D-6E8A-4147-A177-3AD203B41FA5}">
                      <a16:colId xmlns:a16="http://schemas.microsoft.com/office/drawing/2014/main" val="2169129085"/>
                    </a:ext>
                  </a:extLst>
                </a:gridCol>
                <a:gridCol w="614751">
                  <a:extLst>
                    <a:ext uri="{9D8B030D-6E8A-4147-A177-3AD203B41FA5}">
                      <a16:colId xmlns:a16="http://schemas.microsoft.com/office/drawing/2014/main" val="992087256"/>
                    </a:ext>
                  </a:extLst>
                </a:gridCol>
                <a:gridCol w="761423">
                  <a:extLst>
                    <a:ext uri="{9D8B030D-6E8A-4147-A177-3AD203B41FA5}">
                      <a16:colId xmlns:a16="http://schemas.microsoft.com/office/drawing/2014/main" val="3196069200"/>
                    </a:ext>
                  </a:extLst>
                </a:gridCol>
                <a:gridCol w="795467">
                  <a:extLst>
                    <a:ext uri="{9D8B030D-6E8A-4147-A177-3AD203B41FA5}">
                      <a16:colId xmlns:a16="http://schemas.microsoft.com/office/drawing/2014/main" val="1910041541"/>
                    </a:ext>
                  </a:extLst>
                </a:gridCol>
                <a:gridCol w="285329">
                  <a:extLst>
                    <a:ext uri="{9D8B030D-6E8A-4147-A177-3AD203B41FA5}">
                      <a16:colId xmlns:a16="http://schemas.microsoft.com/office/drawing/2014/main" val="985040667"/>
                    </a:ext>
                  </a:extLst>
                </a:gridCol>
                <a:gridCol w="539928">
                  <a:extLst>
                    <a:ext uri="{9D8B030D-6E8A-4147-A177-3AD203B41FA5}">
                      <a16:colId xmlns:a16="http://schemas.microsoft.com/office/drawing/2014/main" val="659852894"/>
                    </a:ext>
                  </a:extLst>
                </a:gridCol>
                <a:gridCol w="523577">
                  <a:extLst>
                    <a:ext uri="{9D8B030D-6E8A-4147-A177-3AD203B41FA5}">
                      <a16:colId xmlns:a16="http://schemas.microsoft.com/office/drawing/2014/main" val="256489842"/>
                    </a:ext>
                  </a:extLst>
                </a:gridCol>
                <a:gridCol w="622540">
                  <a:extLst>
                    <a:ext uri="{9D8B030D-6E8A-4147-A177-3AD203B41FA5}">
                      <a16:colId xmlns:a16="http://schemas.microsoft.com/office/drawing/2014/main" val="1982689930"/>
                    </a:ext>
                  </a:extLst>
                </a:gridCol>
                <a:gridCol w="678733">
                  <a:extLst>
                    <a:ext uri="{9D8B030D-6E8A-4147-A177-3AD203B41FA5}">
                      <a16:colId xmlns:a16="http://schemas.microsoft.com/office/drawing/2014/main" val="2308601855"/>
                    </a:ext>
                  </a:extLst>
                </a:gridCol>
                <a:gridCol w="730627">
                  <a:extLst>
                    <a:ext uri="{9D8B030D-6E8A-4147-A177-3AD203B41FA5}">
                      <a16:colId xmlns:a16="http://schemas.microsoft.com/office/drawing/2014/main" val="2180701857"/>
                    </a:ext>
                  </a:extLst>
                </a:gridCol>
                <a:gridCol w="415026">
                  <a:extLst>
                    <a:ext uri="{9D8B030D-6E8A-4147-A177-3AD203B41FA5}">
                      <a16:colId xmlns:a16="http://schemas.microsoft.com/office/drawing/2014/main" val="998271668"/>
                    </a:ext>
                  </a:extLst>
                </a:gridCol>
                <a:gridCol w="415026">
                  <a:extLst>
                    <a:ext uri="{9D8B030D-6E8A-4147-A177-3AD203B41FA5}">
                      <a16:colId xmlns:a16="http://schemas.microsoft.com/office/drawing/2014/main" val="524489993"/>
                    </a:ext>
                  </a:extLst>
                </a:gridCol>
                <a:gridCol w="371795">
                  <a:extLst>
                    <a:ext uri="{9D8B030D-6E8A-4147-A177-3AD203B41FA5}">
                      <a16:colId xmlns:a16="http://schemas.microsoft.com/office/drawing/2014/main" val="3484070429"/>
                    </a:ext>
                  </a:extLst>
                </a:gridCol>
                <a:gridCol w="449611">
                  <a:extLst>
                    <a:ext uri="{9D8B030D-6E8A-4147-A177-3AD203B41FA5}">
                      <a16:colId xmlns:a16="http://schemas.microsoft.com/office/drawing/2014/main" val="39647403"/>
                    </a:ext>
                  </a:extLst>
                </a:gridCol>
                <a:gridCol w="371795">
                  <a:extLst>
                    <a:ext uri="{9D8B030D-6E8A-4147-A177-3AD203B41FA5}">
                      <a16:colId xmlns:a16="http://schemas.microsoft.com/office/drawing/2014/main" val="1187133501"/>
                    </a:ext>
                  </a:extLst>
                </a:gridCol>
                <a:gridCol w="486092">
                  <a:extLst>
                    <a:ext uri="{9D8B030D-6E8A-4147-A177-3AD203B41FA5}">
                      <a16:colId xmlns:a16="http://schemas.microsoft.com/office/drawing/2014/main" val="2136887626"/>
                    </a:ext>
                  </a:extLst>
                </a:gridCol>
                <a:gridCol w="423724">
                  <a:extLst>
                    <a:ext uri="{9D8B030D-6E8A-4147-A177-3AD203B41FA5}">
                      <a16:colId xmlns:a16="http://schemas.microsoft.com/office/drawing/2014/main" val="2882062773"/>
                    </a:ext>
                  </a:extLst>
                </a:gridCol>
                <a:gridCol w="479480">
                  <a:extLst>
                    <a:ext uri="{9D8B030D-6E8A-4147-A177-3AD203B41FA5}">
                      <a16:colId xmlns:a16="http://schemas.microsoft.com/office/drawing/2014/main" val="3200959367"/>
                    </a:ext>
                  </a:extLst>
                </a:gridCol>
                <a:gridCol w="356821">
                  <a:extLst>
                    <a:ext uri="{9D8B030D-6E8A-4147-A177-3AD203B41FA5}">
                      <a16:colId xmlns:a16="http://schemas.microsoft.com/office/drawing/2014/main" val="4017404086"/>
                    </a:ext>
                  </a:extLst>
                </a:gridCol>
                <a:gridCol w="479480">
                  <a:extLst>
                    <a:ext uri="{9D8B030D-6E8A-4147-A177-3AD203B41FA5}">
                      <a16:colId xmlns:a16="http://schemas.microsoft.com/office/drawing/2014/main" val="1776955345"/>
                    </a:ext>
                  </a:extLst>
                </a:gridCol>
                <a:gridCol w="356821">
                  <a:extLst>
                    <a:ext uri="{9D8B030D-6E8A-4147-A177-3AD203B41FA5}">
                      <a16:colId xmlns:a16="http://schemas.microsoft.com/office/drawing/2014/main" val="4206243166"/>
                    </a:ext>
                  </a:extLst>
                </a:gridCol>
              </a:tblGrid>
              <a:tr h="4624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age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sex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On thyroxine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Query on thyroxine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On antithyroid medication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sick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pregnant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Thyroid surgery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I131 treatment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Query hypothyroid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Query hyperthyroid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lithium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goitre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tumor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hypopituitary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psych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TSH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TT4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T4U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FTI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class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192694"/>
                  </a:ext>
                </a:extLst>
              </a:tr>
              <a:tr h="152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0.29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0.028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0.085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74425"/>
                  </a:ext>
                </a:extLst>
              </a:tr>
              <a:tr h="152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0.32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0.019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0.084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0.078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0.107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981761"/>
                  </a:ext>
                </a:extLst>
              </a:tr>
              <a:tr h="152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0.35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0.239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0.239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790529"/>
                  </a:ext>
                </a:extLst>
              </a:tr>
              <a:tr h="152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0.018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0.087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0.088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0.099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313463"/>
                  </a:ext>
                </a:extLst>
              </a:tr>
              <a:tr h="152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0.22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0.0004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0.022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0.134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0.135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0.099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989143"/>
                  </a:ext>
                </a:extLst>
              </a:tr>
              <a:tr h="152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0.22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0.0016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0.109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47617"/>
                  </a:ext>
                </a:extLst>
              </a:tr>
              <a:tr h="152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0.39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0.0016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0.036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0.144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278992"/>
                  </a:ext>
                </a:extLst>
              </a:tr>
              <a:tr h="1535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0.77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0.00081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0.096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0.08316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89608"/>
                  </a:ext>
                </a:extLst>
              </a:tr>
              <a:tr h="1639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0.00025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0.014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0.11746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389115"/>
                  </a:ext>
                </a:extLst>
              </a:tr>
              <a:tr h="152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0.0026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0.104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0.099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43568"/>
                  </a:ext>
                </a:extLst>
              </a:tr>
              <a:tr h="152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0.45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0.087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347558"/>
                  </a:ext>
                </a:extLst>
              </a:tr>
              <a:tr h="1550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0.65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0.00003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0.154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0.17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958058"/>
                  </a:ext>
                </a:extLst>
              </a:tr>
              <a:tr h="1506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0.00004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133377"/>
                  </a:ext>
                </a:extLst>
              </a:tr>
              <a:tr h="1725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0.00419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302" marR="7302" marT="7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486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368E2-88A8-003B-1286-DA2655F1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E7C1-DD83-5E2C-536D-205BBD63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 Timings</a:t>
            </a:r>
            <a:endParaRPr dirty="0"/>
          </a:p>
        </p:txBody>
      </p:sp>
      <p:graphicFrame>
        <p:nvGraphicFramePr>
          <p:cNvPr id="13" name="Content Placeholder 12" descr="Clustered column chart showing the values of 3 series for 4 categories">
            <a:extLst>
              <a:ext uri="{FF2B5EF4-FFF2-40B4-BE49-F238E27FC236}">
                <a16:creationId xmlns:a16="http://schemas.microsoft.com/office/drawing/2014/main" id="{82899ED6-0C71-3A6D-B928-644E64380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6063651"/>
              </p:ext>
            </p:extLst>
          </p:nvPr>
        </p:nvGraphicFramePr>
        <p:xfrm>
          <a:off x="1524000" y="1828800"/>
          <a:ext cx="9144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7001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68969B-378C-FF3C-8CF9-2C0208607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Vs. </a:t>
            </a:r>
            <a:r>
              <a:rPr lang="en-US" dirty="0" err="1"/>
              <a:t>PyTorch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B319B36-E134-7D90-45C2-530A00DAB6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7118291"/>
              </p:ext>
            </p:extLst>
          </p:nvPr>
        </p:nvGraphicFramePr>
        <p:xfrm>
          <a:off x="760413" y="762000"/>
          <a:ext cx="64008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8DF4E4-6CB3-FF2F-F2B4-FCB48402E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On the Thyroid Dataset</a:t>
            </a:r>
          </a:p>
        </p:txBody>
      </p:sp>
    </p:spTree>
    <p:extLst>
      <p:ext uri="{BB962C8B-B14F-4D97-AF65-F5344CB8AC3E}">
        <p14:creationId xmlns:p14="http://schemas.microsoft.com/office/powerpoint/2010/main" val="1165990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Precision: 97.3%</a:t>
            </a:r>
          </a:p>
          <a:p>
            <a:r>
              <a:rPr lang="en-US" dirty="0"/>
              <a:t>Recall: 97.1%</a:t>
            </a:r>
          </a:p>
          <a:p>
            <a:r>
              <a:rPr lang="en-US" dirty="0"/>
              <a:t>F1: 97.2%</a:t>
            </a:r>
          </a:p>
          <a:p>
            <a:endParaRPr lang="en-US" dirty="0"/>
          </a:p>
          <a:p>
            <a:r>
              <a:rPr lang="en-US" dirty="0"/>
              <a:t>Overall Weighted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624901-6897-D399-8CF4-72BEB8AE9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8236"/>
              </p:ext>
            </p:extLst>
          </p:nvPr>
        </p:nvGraphicFramePr>
        <p:xfrm>
          <a:off x="6781800" y="304800"/>
          <a:ext cx="5034780" cy="3352800"/>
        </p:xfrm>
        <a:graphic>
          <a:graphicData uri="http://schemas.openxmlformats.org/drawingml/2006/table">
            <a:tbl>
              <a:tblPr/>
              <a:tblGrid>
                <a:gridCol w="958111">
                  <a:extLst>
                    <a:ext uri="{9D8B030D-6E8A-4147-A177-3AD203B41FA5}">
                      <a16:colId xmlns:a16="http://schemas.microsoft.com/office/drawing/2014/main" val="3859321845"/>
                    </a:ext>
                  </a:extLst>
                </a:gridCol>
                <a:gridCol w="958111">
                  <a:extLst>
                    <a:ext uri="{9D8B030D-6E8A-4147-A177-3AD203B41FA5}">
                      <a16:colId xmlns:a16="http://schemas.microsoft.com/office/drawing/2014/main" val="3334967545"/>
                    </a:ext>
                  </a:extLst>
                </a:gridCol>
                <a:gridCol w="958111">
                  <a:extLst>
                    <a:ext uri="{9D8B030D-6E8A-4147-A177-3AD203B41FA5}">
                      <a16:colId xmlns:a16="http://schemas.microsoft.com/office/drawing/2014/main" val="771033406"/>
                    </a:ext>
                  </a:extLst>
                </a:gridCol>
                <a:gridCol w="958111">
                  <a:extLst>
                    <a:ext uri="{9D8B030D-6E8A-4147-A177-3AD203B41FA5}">
                      <a16:colId xmlns:a16="http://schemas.microsoft.com/office/drawing/2014/main" val="3050926069"/>
                    </a:ext>
                  </a:extLst>
                </a:gridCol>
                <a:gridCol w="1202336">
                  <a:extLst>
                    <a:ext uri="{9D8B030D-6E8A-4147-A177-3AD203B41FA5}">
                      <a16:colId xmlns:a16="http://schemas.microsoft.com/office/drawing/2014/main" val="140410072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Confusion Matrix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51956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Hyperthyroid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D6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E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42523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Hypothyroid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2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19685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4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BF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434406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Hyperthyroid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Hypothyroid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Predicted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762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28BD2-0228-A25E-5342-28CE432B9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7E609-AC97-24CF-CA99-1A5D47301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9C8F9-C762-D1D1-147D-7F3564C465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Non-Square Matrices</a:t>
            </a:r>
          </a:p>
          <a:p>
            <a:r>
              <a:rPr lang="en-US" dirty="0"/>
              <a:t>Small Weight Matrices</a:t>
            </a:r>
          </a:p>
          <a:p>
            <a:r>
              <a:rPr lang="en-US" dirty="0"/>
              <a:t>GPU Utilization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1C32F-A1B0-1C99-A7E2-5EDBA636B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1E4CD5-56BC-D118-95C7-028D8364CCD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GPU Acceleration via Adaptive CPP</a:t>
            </a:r>
          </a:p>
          <a:p>
            <a:r>
              <a:rPr lang="en-US" dirty="0"/>
              <a:t>Larger Datasets </a:t>
            </a:r>
          </a:p>
          <a:p>
            <a:r>
              <a:rPr lang="en-US" dirty="0"/>
              <a:t>Improved optimizations</a:t>
            </a:r>
          </a:p>
        </p:txBody>
      </p:sp>
    </p:spTree>
    <p:extLst>
      <p:ext uri="{BB962C8B-B14F-4D97-AF65-F5344CB8AC3E}">
        <p14:creationId xmlns:p14="http://schemas.microsoft.com/office/powerpoint/2010/main" val="2809403960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0</TotalTime>
  <Words>730</Words>
  <Application>Microsoft Office PowerPoint</Application>
  <PresentationFormat>Widescreen</PresentationFormat>
  <Paragraphs>418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Narrow</vt:lpstr>
      <vt:lpstr>Arial</vt:lpstr>
      <vt:lpstr>Candara</vt:lpstr>
      <vt:lpstr>Consolas</vt:lpstr>
      <vt:lpstr>Tech Computer 16x9</vt:lpstr>
      <vt:lpstr>Applications and Optimizations of Parallel Programming</vt:lpstr>
      <vt:lpstr>Overview</vt:lpstr>
      <vt:lpstr>Parallel Programming Relevance</vt:lpstr>
      <vt:lpstr>SYCL</vt:lpstr>
      <vt:lpstr>Matrix Multiplication</vt:lpstr>
      <vt:lpstr>Matrix Multiplication Timings</vt:lpstr>
      <vt:lpstr>Neural Network API Structure</vt:lpstr>
      <vt:lpstr>Neural Networks</vt:lpstr>
      <vt:lpstr>Neural Network Training Timings</vt:lpstr>
      <vt:lpstr>Vs. PyTorch</vt:lpstr>
      <vt:lpstr>Model Performance</vt:lpstr>
      <vt:lpstr>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Justin Eubank</dc:creator>
  <cp:lastModifiedBy>Thomas Justin Eubank</cp:lastModifiedBy>
  <cp:revision>2</cp:revision>
  <dcterms:created xsi:type="dcterms:W3CDTF">2026-04-25T22:38:20Z</dcterms:created>
  <dcterms:modified xsi:type="dcterms:W3CDTF">2026-04-28T01:30:09Z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MSIP_Label_a42ddfa3-f04e-4aa0-a6ac-18ea78752d25_Enabled">
    <vt:lpwstr>true</vt:lpwstr>
  </property>
  <property fmtid="{D5CDD505-2E9C-101B-9397-08002B2CF9AE}" pid="9" name="MSIP_Label_a42ddfa3-f04e-4aa0-a6ac-18ea78752d25_SetDate">
    <vt:lpwstr>2026-04-27T20:09:35Z</vt:lpwstr>
  </property>
  <property fmtid="{D5CDD505-2E9C-101B-9397-08002B2CF9AE}" pid="10" name="MSIP_Label_a42ddfa3-f04e-4aa0-a6ac-18ea78752d25_Method">
    <vt:lpwstr>Standard</vt:lpwstr>
  </property>
  <property fmtid="{D5CDD505-2E9C-101B-9397-08002B2CF9AE}" pid="11" name="MSIP_Label_a42ddfa3-f04e-4aa0-a6ac-18ea78752d25_Name">
    <vt:lpwstr>defa4170-0d19-0005-0004-bc88714345d2</vt:lpwstr>
  </property>
  <property fmtid="{D5CDD505-2E9C-101B-9397-08002B2CF9AE}" pid="12" name="MSIP_Label_a42ddfa3-f04e-4aa0-a6ac-18ea78752d25_SiteId">
    <vt:lpwstr>6135a844-853b-4b8c-9020-ae7f7ccf6c22</vt:lpwstr>
  </property>
  <property fmtid="{D5CDD505-2E9C-101B-9397-08002B2CF9AE}" pid="13" name="MSIP_Label_a42ddfa3-f04e-4aa0-a6ac-18ea78752d25_ActionId">
    <vt:lpwstr>848dd7cb-1f4a-4623-807b-24ddc2823f94</vt:lpwstr>
  </property>
  <property fmtid="{D5CDD505-2E9C-101B-9397-08002B2CF9AE}" pid="14" name="MSIP_Label_a42ddfa3-f04e-4aa0-a6ac-18ea78752d25_ContentBits">
    <vt:lpwstr>0</vt:lpwstr>
  </property>
  <property fmtid="{D5CDD505-2E9C-101B-9397-08002B2CF9AE}" pid="15" name="MSIP_Label_a42ddfa3-f04e-4aa0-a6ac-18ea78752d25_Tag">
    <vt:lpwstr>10, 3, 0, 1</vt:lpwstr>
  </property>
</Properties>
</file>